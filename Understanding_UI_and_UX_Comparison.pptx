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Understanding UI and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200"/>
            </a:pPr>
            <a:r>
              <a:t>Comparison of Popular Applications</a:t>
            </a:r>
          </a:p>
          <a:p>
            <a:pPr algn="ctr">
              <a:spcAft>
                <a:spcPts val="1200"/>
              </a:spcAft>
              <a:defRPr sz="1800"/>
            </a:pPr>
            <a:r>
              <a:t>Google • WhatsApp • Instagram • YouTube • LinkedIn</a:t>
            </a:r>
          </a:p>
          <a:p>
            <a:pPr algn="ctr">
              <a:spcAft>
                <a:spcPts val="1200"/>
              </a:spcAft>
              <a:defRPr sz="1800"/>
            </a:pPr>
            <a:r>
              <a:t>Objective: Understand UI and UX concepts and differentiate between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UI and UX?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/>
            </a:pPr>
            <a:r>
              <a:t>UI — User Interface</a:t>
            </a:r>
          </a:p>
          <a:p>
            <a:pPr>
              <a:spcAft>
                <a:spcPts val="1000"/>
              </a:spcAft>
              <a:defRPr sz="2000"/>
            </a:pPr>
            <a:r>
              <a:t>• Visual and interactive elements: buttons, icons, menus, search bars, forms, colors and navigation.</a:t>
            </a:r>
          </a:p>
          <a:p>
            <a:pPr>
              <a:spcAft>
                <a:spcPts val="1000"/>
              </a:spcAft>
              <a:defRPr sz="2200" b="1"/>
            </a:pPr>
            <a:r>
              <a:t>UX — User Experience</a:t>
            </a:r>
          </a:p>
          <a:p>
            <a:pPr>
              <a:spcAft>
                <a:spcPts val="1000"/>
              </a:spcAft>
              <a:defRPr sz="2000"/>
            </a:pPr>
            <a:r>
              <a:t>• How easy, useful, efficient, accessible and satisfying an application is to use.</a:t>
            </a:r>
          </a:p>
          <a:p>
            <a:pPr>
              <a:spcAft>
                <a:spcPts val="1000"/>
              </a:spcAft>
              <a:defRPr sz="2000"/>
            </a:pPr>
            <a:r>
              <a:t>UI = How the application looks and works visually</a:t>
            </a:r>
          </a:p>
          <a:p>
            <a:pPr>
              <a:spcAft>
                <a:spcPts val="1000"/>
              </a:spcAft>
              <a:defRPr sz="2000"/>
            </a:pPr>
            <a:r>
              <a:t>UX = How the user feels while using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Google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UI Elements</a:t>
            </a:r>
          </a:p>
          <a:p>
            <a:pPr>
              <a:spcAft>
                <a:spcPts val="1000"/>
              </a:spcAft>
              <a:defRPr sz="2000"/>
            </a:pPr>
            <a:r>
              <a:t>• Search bar • Search and microphone icons • Navigation menu • Search buttons • Account/profile icon • Search suggestions</a:t>
            </a:r>
          </a:p>
          <a:p>
            <a:pPr>
              <a:spcAft>
                <a:spcPts val="1000"/>
              </a:spcAft>
              <a:defRPr sz="2200" b="1"/>
            </a:pPr>
            <a:r>
              <a:t>UX Analysis</a:t>
            </a:r>
          </a:p>
          <a:p>
            <a:pPr>
              <a:spcAft>
                <a:spcPts val="1000"/>
              </a:spcAft>
              <a:defRPr sz="2000"/>
            </a:pPr>
            <a:r>
              <a:t>• Ease of use: Very simple search interface</a:t>
            </a:r>
          </a:p>
          <a:p>
            <a:pPr>
              <a:spcAft>
                <a:spcPts val="1000"/>
              </a:spcAft>
              <a:defRPr sz="2000"/>
            </a:pPr>
            <a:r>
              <a:t>• Efficiency: Finds information quickly</a:t>
            </a:r>
          </a:p>
          <a:p>
            <a:pPr>
              <a:spcAft>
                <a:spcPts val="1000"/>
              </a:spcAft>
              <a:defRPr sz="2000"/>
            </a:pPr>
            <a:r>
              <a:t>• Accessibility: Voice search and keyboard navigation</a:t>
            </a:r>
          </a:p>
          <a:p>
            <a:pPr>
              <a:spcAft>
                <a:spcPts val="1000"/>
              </a:spcAft>
              <a:defRPr sz="2000"/>
            </a:pPr>
            <a:r>
              <a:t>• Satisfaction: Fast and familiar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UI Elements</a:t>
            </a:r>
          </a:p>
          <a:p>
            <a:pPr>
              <a:spcAft>
                <a:spcPts val="1000"/>
              </a:spcAft>
              <a:defRPr sz="2000"/>
            </a:pPr>
            <a:r>
              <a:t>• Chat list • Message input • Send button • Camera/microphone icons • Navigation tabs • Search • Call/video buttons</a:t>
            </a:r>
          </a:p>
          <a:p>
            <a:pPr>
              <a:spcAft>
                <a:spcPts val="1000"/>
              </a:spcAft>
              <a:defRPr sz="2200" b="1"/>
            </a:pPr>
            <a:r>
              <a:t>UX Analysis</a:t>
            </a:r>
          </a:p>
          <a:p>
            <a:pPr>
              <a:spcAft>
                <a:spcPts val="1000"/>
              </a:spcAft>
              <a:defRPr sz="2000"/>
            </a:pPr>
            <a:r>
              <a:t>• Ease of use: Easy messaging and media sharing</a:t>
            </a:r>
          </a:p>
          <a:p>
            <a:pPr>
              <a:spcAft>
                <a:spcPts val="1000"/>
              </a:spcAft>
              <a:defRPr sz="2000"/>
            </a:pPr>
            <a:r>
              <a:t>• Efficiency: Quick access to chats and calls</a:t>
            </a:r>
          </a:p>
          <a:p>
            <a:pPr>
              <a:spcAft>
                <a:spcPts val="1000"/>
              </a:spcAft>
              <a:defRPr sz="2000"/>
            </a:pPr>
            <a:r>
              <a:t>• Accessibility: Voice messages and recognizable icons</a:t>
            </a:r>
          </a:p>
          <a:p>
            <a:pPr>
              <a:spcAft>
                <a:spcPts val="1000"/>
              </a:spcAft>
              <a:defRPr sz="2000"/>
            </a:pPr>
            <a:r>
              <a:t>• Satisfaction: Simple communication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Instagram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UI Elements</a:t>
            </a:r>
          </a:p>
          <a:p>
            <a:pPr>
              <a:spcAft>
                <a:spcPts val="1000"/>
              </a:spcAft>
              <a:defRPr sz="2000"/>
            </a:pPr>
            <a:r>
              <a:t>• Home feed • Like/comment/share icons • Story circles • Navigation bar • Explore • Profile • Create-post button</a:t>
            </a:r>
          </a:p>
          <a:p>
            <a:pPr>
              <a:spcAft>
                <a:spcPts val="1000"/>
              </a:spcAft>
              <a:defRPr sz="2200" b="1"/>
            </a:pPr>
            <a:r>
              <a:t>UX Analysis</a:t>
            </a:r>
          </a:p>
          <a:p>
            <a:pPr>
              <a:spcAft>
                <a:spcPts val="1000"/>
              </a:spcAft>
              <a:defRPr sz="2000"/>
            </a:pPr>
            <a:r>
              <a:t>• Ease of use: Easy browsing and interaction</a:t>
            </a:r>
          </a:p>
          <a:p>
            <a:pPr>
              <a:spcAft>
                <a:spcPts val="1000"/>
              </a:spcAft>
              <a:defRPr sz="2000"/>
            </a:pPr>
            <a:r>
              <a:t>• Efficiency: Quick actions through icons</a:t>
            </a:r>
          </a:p>
          <a:p>
            <a:pPr>
              <a:spcAft>
                <a:spcPts val="1000"/>
              </a:spcAft>
              <a:defRPr sz="2000"/>
            </a:pPr>
            <a:r>
              <a:t>• Accessibility: Support for accessible content features</a:t>
            </a:r>
          </a:p>
          <a:p>
            <a:pPr>
              <a:spcAft>
                <a:spcPts val="1000"/>
              </a:spcAft>
              <a:defRPr sz="2000"/>
            </a:pPr>
            <a:r>
              <a:t>• Satisfaction: Personalized and engaging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YouTube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UI Elements</a:t>
            </a:r>
          </a:p>
          <a:p>
            <a:pPr>
              <a:spcAft>
                <a:spcPts val="1000"/>
              </a:spcAft>
              <a:defRPr sz="2000"/>
            </a:pPr>
            <a:r>
              <a:t>• Search bar • Video thumbnails • Play/pause controls • Like/share • Subscribe • Sidebar/menu • Progress bar</a:t>
            </a:r>
          </a:p>
          <a:p>
            <a:pPr>
              <a:spcAft>
                <a:spcPts val="1000"/>
              </a:spcAft>
              <a:defRPr sz="2200" b="1"/>
            </a:pPr>
            <a:r>
              <a:t>UX Analysis</a:t>
            </a:r>
          </a:p>
          <a:p>
            <a:pPr>
              <a:spcAft>
                <a:spcPts val="1000"/>
              </a:spcAft>
              <a:defRPr sz="2000"/>
            </a:pPr>
            <a:r>
              <a:t>• Ease of use: Easy searching and watching</a:t>
            </a:r>
          </a:p>
          <a:p>
            <a:pPr>
              <a:spcAft>
                <a:spcPts val="1000"/>
              </a:spcAft>
              <a:defRPr sz="2000"/>
            </a:pPr>
            <a:r>
              <a:t>• Efficiency: Recommendations aid discovery</a:t>
            </a:r>
          </a:p>
          <a:p>
            <a:pPr>
              <a:spcAft>
                <a:spcPts val="1000"/>
              </a:spcAft>
              <a:defRPr sz="2000"/>
            </a:pPr>
            <a:r>
              <a:t>• Accessibility: Captions, transcripts and playback controls</a:t>
            </a:r>
          </a:p>
          <a:p>
            <a:pPr>
              <a:spcAft>
                <a:spcPts val="1000"/>
              </a:spcAft>
              <a:defRPr sz="2000"/>
            </a:pPr>
            <a:r>
              <a:t>• Satisfaction: Large library and personalized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LinkedIn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UI Elements</a:t>
            </a:r>
          </a:p>
          <a:p>
            <a:pPr>
              <a:spcAft>
                <a:spcPts val="1000"/>
              </a:spcAft>
              <a:defRPr sz="2000"/>
            </a:pPr>
            <a:r>
              <a:t>• Navigation bar • Search • Profile icon • Post box • Like/comment/repost/share • Messaging • Job filters</a:t>
            </a:r>
          </a:p>
          <a:p>
            <a:pPr>
              <a:spcAft>
                <a:spcPts val="1000"/>
              </a:spcAft>
              <a:defRPr sz="2200" b="1"/>
            </a:pPr>
            <a:r>
              <a:t>UX Analysis</a:t>
            </a:r>
          </a:p>
          <a:p>
            <a:pPr>
              <a:spcAft>
                <a:spcPts val="1000"/>
              </a:spcAft>
              <a:defRPr sz="2000"/>
            </a:pPr>
            <a:r>
              <a:t>• Ease of use: Simple networking features</a:t>
            </a:r>
          </a:p>
          <a:p>
            <a:pPr>
              <a:spcAft>
                <a:spcPts val="1000"/>
              </a:spcAft>
              <a:defRPr sz="2000"/>
            </a:pPr>
            <a:r>
              <a:t>• Efficiency: Search and filters find jobs and people</a:t>
            </a:r>
          </a:p>
          <a:p>
            <a:pPr>
              <a:spcAft>
                <a:spcPts val="1000"/>
              </a:spcAft>
              <a:defRPr sz="2000"/>
            </a:pPr>
            <a:r>
              <a:t>• Accessibility: Keyboard navigation and assistive technology support</a:t>
            </a:r>
          </a:p>
          <a:p>
            <a:pPr>
              <a:spcAft>
                <a:spcPts val="1000"/>
              </a:spcAft>
              <a:defRPr sz="2000"/>
            </a:pPr>
            <a:r>
              <a:t>• Satisfaction: Useful for networking, jobs and professional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Comparison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Google — Search &amp; navigation — Fast information access</a:t>
            </a:r>
          </a:p>
          <a:p>
            <a:pPr>
              <a:spcAft>
                <a:spcPts val="1000"/>
              </a:spcAft>
              <a:defRPr sz="2000"/>
            </a:pPr>
            <a:r>
              <a:t>WhatsApp — Communication — Simple messaging</a:t>
            </a:r>
          </a:p>
          <a:p>
            <a:pPr>
              <a:spcAft>
                <a:spcPts val="1000"/>
              </a:spcAft>
              <a:defRPr sz="2000"/>
            </a:pPr>
            <a:r>
              <a:t>Instagram — Visual content — Engagement</a:t>
            </a:r>
          </a:p>
          <a:p>
            <a:pPr>
              <a:spcAft>
                <a:spcPts val="1000"/>
              </a:spcAft>
              <a:defRPr sz="2000"/>
            </a:pPr>
            <a:r>
              <a:t>YouTube — Video content — Content discovery</a:t>
            </a:r>
          </a:p>
          <a:p>
            <a:pPr>
              <a:spcAft>
                <a:spcPts val="1000"/>
              </a:spcAft>
              <a:defRPr sz="2000"/>
            </a:pPr>
            <a:r>
              <a:t>LinkedIn — Professional networking — Career &amp; networking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UI focuses on the interface and visual elements.</a:t>
            </a:r>
          </a:p>
          <a:p>
            <a:pPr>
              <a:spcAft>
                <a:spcPts val="1000"/>
              </a:spcAft>
              <a:defRPr sz="2000"/>
            </a:pPr>
            <a:r>
              <a:t>UX focuses on the complete user experience.</a:t>
            </a:r>
          </a:p>
          <a:p>
            <a:pPr>
              <a:spcAft>
                <a:spcPts val="1000"/>
              </a:spcAft>
              <a:defRPr sz="2000"/>
            </a:pPr>
            <a:r>
              <a:t>A successful application needs both good UI and good UX.</a:t>
            </a:r>
          </a:p>
          <a:p>
            <a:pPr>
              <a:spcAft>
                <a:spcPts val="1000"/>
              </a:spcAft>
              <a:defRPr sz="2000"/>
            </a:pPr>
            <a:r>
              <a:t>Example: A beautiful button is UI; making it easy to find and useful is 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